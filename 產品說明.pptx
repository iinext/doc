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32D41"/>
          </a:solidFill>
          <a:ln w="12700">
            <a:solidFill>
              <a:srgbClr val="032D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2286000" cy="2286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1645920" cy="1645920"/>
          </a:xfrm>
          <a:prstGeom prst="ellipse">
            <a:avLst/>
          </a:prstGeom>
          <a:solidFill>
            <a:srgbClr val="0A9DC2">
              <a:alpha val="3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286000"/>
            <a:ext cx="731520" cy="731520"/>
          </a:xfrm>
          <a:prstGeom prst="ellipse">
            <a:avLst/>
          </a:prstGeom>
          <a:solidFill>
            <a:srgbClr val="0A9DC2">
              <a:alpha val="5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| 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文件管理系統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即時通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5029200" cy="36576"/>
          </a:xfrm>
          <a:prstGeom prst="rect">
            <a:avLst/>
          </a:prstGeom>
          <a:solidFill>
            <a:srgbClr val="0A9DC2">
              <a:alpha val="7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企業文件合規管理一站式解決方案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自建部署  ·  ISO 9001:2015 合規  ·  行動裝置支援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5943600" cy="480060"/>
          </a:xfrm>
          <a:prstGeom prst="rect">
            <a:avLst/>
          </a:prstGeom>
          <a:solidFill>
            <a:srgbClr val="032D41"/>
          </a:solidFill>
          <a:ln w="12700">
            <a:solidFill>
              <a:srgbClr val="032D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81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 +  FastAPI  +  PostgreSQL  |  Bootstrap 5  |  Cloudflare Tunnel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中小型製造業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ISO合規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63640" y="2834640"/>
            <a:ext cx="164592" cy="164592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798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文件版本管控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236976"/>
            <a:ext cx="164592" cy="164592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簽核流程自動化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639312"/>
            <a:ext cx="164592" cy="164592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027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即時訊息整合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041648"/>
            <a:ext cx="164592" cy="164592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稽核軌跡追蹤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企業痛點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中小型製造業面臨的文件管理困境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371600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文件版本混亂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多人同時編輯同一份文件，版本難以追蹤，舊版本誤用導致生產錯誤，無法確認哪個版本為最新核准版。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43000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71600"/>
            <a:ext cx="822960" cy="8229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ISO稽核難追蹤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文件簽核紀錄分散各處，稽核人員無法快速查閱歷史記錄，ISO 9001:2015 第7.5條要求的紀錄保存難以達成。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43000"/>
            <a:ext cx="274320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371600"/>
            <a:ext cx="822960" cy="8229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簽核流程不透明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文件送審後不知審核進度，簽核人員未及時通知，流程瓶頸無法識別，審核時間過長影響作業效率。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0" y="4800600"/>
            <a:ext cx="219456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4800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以上痛點，我們全部解決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解決方案全景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兩大系統協同運作，共用企業資料庫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474720" cy="3566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文件管理系統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01368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64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文件版本歷史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194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簽核工作流程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660904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624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合規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090672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0540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資料夾 / 權限管理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520440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4838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浮水印 PDF 下載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950208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模糊搜尋 &amp; 稽核記錄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1920240"/>
            <a:ext cx="1280160" cy="12801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A9D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2560320"/>
            <a:ext cx="-45720" cy="0"/>
          </a:xfrm>
          <a:prstGeom prst="line">
            <a:avLst/>
          </a:prstGeom>
          <a:noFill/>
          <a:ln w="25400">
            <a:solidFill>
              <a:srgbClr val="0A9D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7492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03520" y="1143000"/>
            <a:ext cx="3474720" cy="3566160"/>
          </a:xfrm>
          <a:prstGeom prst="rect">
            <a:avLst/>
          </a:prstGeom>
          <a:solidFill>
            <a:srgbClr val="1C7293"/>
          </a:solidFill>
          <a:ln w="1270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即時通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32120" y="1801368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1764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即時訊息聊天室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2231136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33288" y="2194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檔案傳送 &amp; 下載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32120" y="2660904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3288" y="2624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我的檔案歷史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3090672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3288" y="30540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文件系統通知整合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32120" y="3520440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3288" y="34838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多人協作支援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32120" y="3950208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33288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行動裝置友善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661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 company_db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66160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統一使用者 · 權限 · 通知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 — 文件管理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完整的企業文件生命週期管理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7373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438912" cy="438912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版本歷史管理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645920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完整記錄每次修訂，可比對差異、回溯舊版，確保最新核准版本易於識別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170432"/>
            <a:ext cx="438912" cy="438912"/>
          </a:xfrm>
          <a:prstGeom prst="ellipse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資料夾層級架構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645920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支援多層資料夾與分頁，群組 / 使用者雙層權限控管，精細存取管理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00584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05840"/>
            <a:ext cx="64008" cy="1737360"/>
          </a:xfrm>
          <a:prstGeom prst="rect">
            <a:avLst/>
          </a:prstGeom>
          <a:solidFill>
            <a:srgbClr val="7D3C8C"/>
          </a:solidFill>
          <a:ln w="12700">
            <a:solidFill>
              <a:srgbClr val="7D3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170432"/>
            <a:ext cx="438912" cy="438912"/>
          </a:xfrm>
          <a:prstGeom prst="ellipse">
            <a:avLst/>
          </a:prstGeom>
          <a:solidFill>
            <a:srgbClr val="7D3C8C"/>
          </a:solidFill>
          <a:ln w="12700">
            <a:solidFill>
              <a:srgbClr val="7D3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簽核工作流程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81928" y="1645920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可設定多階段審查人，送審→審查→核准完整流程，範本與檔案類型關聯設定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07792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07792"/>
            <a:ext cx="64008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072384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3072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 &amp; 批次匯入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" y="3547872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跨欄位模糊搜尋 (編號/主旨/備註/部門)，支援批次匯入，資源回收桶保護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907792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907792"/>
            <a:ext cx="64008" cy="173736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3072384"/>
            <a:ext cx="438912" cy="43891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31920" y="3072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稽核軌跡記錄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5848" y="3547872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7.5 合規要求，所有操作全程記錄，下載附浮水印 PDF，確保可追溯性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2907792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907792"/>
            <a:ext cx="64008" cy="173736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3072384"/>
            <a:ext cx="438912" cy="438912"/>
          </a:xfrm>
          <a:prstGeom prst="ellipse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0" y="3072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到期管理 &amp; 外網存取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81928" y="3547872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文件到期提醒 &amp; 複審警示，透過 Cloudflare Tunnel 安全對外發布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合規流程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文件管制符合 ISO 第 7.5 條要求 — 完整生命週期追蹤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578608"/>
            <a:ext cx="7680960" cy="54864"/>
          </a:xfrm>
          <a:prstGeom prst="rect">
            <a:avLst/>
          </a:prstGeom>
          <a:solidFill>
            <a:srgbClr val="D0E8F2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914400" cy="914400"/>
          </a:xfrm>
          <a:prstGeom prst="ellipse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89888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31272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起草人員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建立文件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3794760"/>
            <a:ext cx="859536" cy="256032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7947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1737360"/>
            <a:ext cx="914400" cy="9144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4884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81528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5740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31272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提交審查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76272" y="3794760"/>
            <a:ext cx="859536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37947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737360"/>
            <a:ext cx="914400" cy="9144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73168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4904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03320" y="31272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審查人員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進行審閱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67912" y="3794760"/>
            <a:ext cx="859536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37947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1737360"/>
            <a:ext cx="9144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64808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4068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1272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主管核可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59552" y="3794760"/>
            <a:ext cx="859536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37947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173736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237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3232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31272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正式發布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通知相關人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51192" y="3794760"/>
            <a:ext cx="859536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37947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2651760" cy="777240"/>
          </a:xfrm>
          <a:prstGeom prst="rect">
            <a:avLst/>
          </a:prstGeom>
          <a:solidFill>
            <a:srgbClr val="EEF6FA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33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退回機制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4480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審查不通過時可退回修改，保留退回意見紀錄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91840" y="4206240"/>
            <a:ext cx="2651760" cy="777240"/>
          </a:xfrm>
          <a:prstGeom prst="rect">
            <a:avLst/>
          </a:prstGeom>
          <a:solidFill>
            <a:srgbClr val="EEF6FA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4233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版本鎖定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83280" y="4480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核准後文件自動鎖定，變更需重新走流程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4206240"/>
            <a:ext cx="2651760" cy="777240"/>
          </a:xfrm>
          <a:prstGeom prst="rect">
            <a:avLst/>
          </a:prstGeom>
          <a:solidFill>
            <a:srgbClr val="EEF6FA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233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稽核記錄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17920" y="4480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每個狀態變更均記錄時間戳記與操作人員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簽核範本設定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可設定工作流程範本並關聯至特定檔案類型，自動套用審核階段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47472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2377440"/>
                <a:gridCol w="146304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檔案類型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簽核範本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審查層級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適用部門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狀態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作業程序書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三階審核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 → 品保 → 總經理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品保 / 製造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啟用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 作業指導書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雙階審核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 → 品保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製造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啟用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 品質計劃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四階審核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主管→品保→技術→總經理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品保 / 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啟用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研發文件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單階審核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技術主管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啟用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 表單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雙階審核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主管 → 品保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全部門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草稿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D0E8F2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636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管理員可隨時新增、修改範本，並指定每個審核階段的負責人員與代理人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2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權限與安全管理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三層角色體系 + 精細資源存取控制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474720"/>
          </a:xfrm>
          <a:prstGeom prst="rect">
            <a:avLst/>
          </a:prstGeom>
          <a:solidFill>
            <a:srgbClr val="065A82"/>
          </a:solidFill>
          <a:ln w="635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194560" cy="27432"/>
          </a:xfrm>
          <a:prstGeom prst="rect">
            <a:avLst/>
          </a:prstGeom>
          <a:solidFill>
            <a:srgbClr val="0A9DC2">
              <a:alpha val="6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299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933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系統設定與使用者管理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505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全部文件讀取/編輯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077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工作流程範本設定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649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稽核記錄完整存取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587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221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批次匯入 &amp; 資源回收桶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743200" cy="3474720"/>
          </a:xfrm>
          <a:prstGeom prst="rect">
            <a:avLst/>
          </a:prstGeom>
          <a:solidFill>
            <a:srgbClr val="1C7293"/>
          </a:solidFill>
          <a:ln w="635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20440" y="1920240"/>
            <a:ext cx="2194560" cy="27432"/>
          </a:xfrm>
          <a:prstGeom prst="rect">
            <a:avLst/>
          </a:prstGeom>
          <a:solidFill>
            <a:srgbClr val="0A9DC2">
              <a:alpha val="6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0299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9933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部門文件管理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4871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4505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核准/退回文件申請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29443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077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部門稽核記錄查閱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4015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3649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下載浮水印 PDF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8587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8221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到期文件複審管理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097280"/>
            <a:ext cx="2743200" cy="3474720"/>
          </a:xfrm>
          <a:prstGeom prst="rect">
            <a:avLst/>
          </a:prstGeom>
          <a:solidFill>
            <a:srgbClr val="1A5276"/>
          </a:solidFill>
          <a:ln w="635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一般人員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46520" y="1920240"/>
            <a:ext cx="2194560" cy="27432"/>
          </a:xfrm>
          <a:prstGeom prst="rect">
            <a:avLst/>
          </a:prstGeom>
          <a:solidFill>
            <a:srgbClr val="0A9DC2">
              <a:alpha val="6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0299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9933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被授權資料夾存取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24871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4505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送審新文件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29443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9077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閱覽核准版本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34015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33649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下載自身提交紀錄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3858768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8221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接收通知提醒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663440"/>
            <a:ext cx="2743200" cy="365760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via Cloudflare Tunnel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46120" y="4663440"/>
            <a:ext cx="2743200" cy="365760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資料夾 &amp; 分頁雙層授權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4663440"/>
            <a:ext cx="2743200" cy="365760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操作全程 Log 記錄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即時通功能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企業內部即時溝通 + 與文件系統深度整合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2344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502920" cy="50292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即時訊息聊天室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5361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建立多個主題聊天室，支援多人即時對話，訊息即時同步，不遺漏任何重要溝通。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77440"/>
            <a:ext cx="64008" cy="123444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78608"/>
            <a:ext cx="502920" cy="502920"/>
          </a:xfrm>
          <a:prstGeom prst="ellipse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542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檔案附件傳送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907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在聊天室中直接傳送文件、圖片、附件，支援預覽與下載，完整記錄傳輸歷史。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65A8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49040"/>
            <a:ext cx="64008" cy="1234440"/>
          </a:xfrm>
          <a:prstGeom prst="rect">
            <a:avLst/>
          </a:prstGeom>
          <a:solidFill>
            <a:srgbClr val="7D3C8C"/>
          </a:solidFill>
          <a:ln w="12700">
            <a:solidFill>
              <a:srgbClr val="7D3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950208"/>
            <a:ext cx="502920" cy="502920"/>
          </a:xfrm>
          <a:prstGeom prst="ellipse">
            <a:avLst/>
          </a:prstGeom>
          <a:solidFill>
            <a:srgbClr val="7D3C8C"/>
          </a:solidFill>
          <a:ln w="12700">
            <a:solidFill>
              <a:srgbClr val="7D3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913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我的檔案歷史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2793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一覽所有曾下載的檔案，包含下載時間、來源聊天室，方便快速重新存取。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1005840"/>
            <a:ext cx="3383280" cy="3977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321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文件系統整合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760720" y="1536192"/>
            <a:ext cx="2743200" cy="27432"/>
          </a:xfrm>
          <a:prstGeom prst="rect">
            <a:avLst/>
          </a:prstGeom>
          <a:solidFill>
            <a:srgbClr val="0A9DC2">
              <a:alpha val="6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1664208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24728" y="1627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文件核准時自動推送通知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23560" y="2139696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24728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簽核進度更新即時提醒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23560" y="2615184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24728" y="2578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到期文件複審警示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23560" y="3090672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新版本發布通知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23560" y="3566160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24728" y="3529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退回意見即時傳達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23560" y="4041648"/>
            <a:ext cx="146304" cy="146304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4728" y="4005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跨系統統一登入 (SSO)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23560" y="4572000"/>
            <a:ext cx="3017520" cy="292608"/>
          </a:xfrm>
          <a:prstGeom prst="rect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4572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2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WebSocket 即時推送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 &amp; 稽核軌跡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快速定位文件 + 完整合規記錄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977640"/>
          </a:xfrm>
          <a:prstGeom prst="rect">
            <a:avLst/>
          </a:prstGeom>
          <a:solidFill>
            <a:srgbClr val="EEF6FA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模糊搜尋引擎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6576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搜尋文件編號、主旨、備註...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703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67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文件編號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SOP-001, WI-003...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3703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642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文件主旨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6426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關鍵字模糊匹配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3703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18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  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118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說明欄位全文搜尋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75304"/>
            <a:ext cx="3703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593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  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5935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品保、製造、研發...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3703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按資料夾結構篩選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ILIKE 跨欄位模糊比對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05840"/>
            <a:ext cx="27432" cy="3977640"/>
          </a:xfrm>
          <a:prstGeom prst="rect">
            <a:avLst/>
          </a:prstGeom>
          <a:solidFill>
            <a:srgbClr val="D0E8F2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005840"/>
            <a:ext cx="4114800" cy="3977640"/>
          </a:xfrm>
          <a:prstGeom prst="rect">
            <a:avLst/>
          </a:prstGeom>
          <a:solidFill>
            <a:srgbClr val="EEF6FA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稽核軌跡記錄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00600" y="166420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96128" y="1627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王品保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1828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核准文件 SOP-002 v3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212848"/>
            <a:ext cx="164592" cy="16459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176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96128" y="2176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李主管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送審 WI-015 v2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761488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7249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96128" y="2724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張工程師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2926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 QP-001 (浮水印)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3101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2735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9612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陳品保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474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退回 SOP-008 — 需修改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858768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8221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昨天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96128" y="3822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FM-003 即將到期提醒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 ISO 9001:2015 第 7.5 條文件化資訊要求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行動裝置支援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RWD — 桌面、平板、手機全覆蓋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937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全寬度側滑面板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導覽選單以動畫方式從側邊滑入，觸控友善的開關按鈕，不遮蔽主要內容區域。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自適應表格佈局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500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文件列表在小螢幕自動調整欄位顯示，優先呈現最重要的資訊 (文件名稱、狀態)。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觸控優化操作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264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按鈕、連結尺寸符合觸控目標規範，手勢滑動支援，下拉選單適合手指操作。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外網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178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員工可透過 HTTPS 安全連接，無需 VPN，出差或在家均可存取企業文件系統。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3337560" cy="3931920"/>
          </a:xfrm>
          <a:prstGeom prst="rect">
            <a:avLst/>
          </a:prstGeom>
          <a:solidFill>
            <a:srgbClr val="065A82"/>
          </a:solidFill>
          <a:ln w="1905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1097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行動裝置預覽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1554480"/>
            <a:ext cx="29718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157276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文件管理系統  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2084832"/>
            <a:ext cx="2971800" cy="502920"/>
          </a:xfrm>
          <a:prstGeom prst="rect">
            <a:avLst/>
          </a:prstGeom>
          <a:solidFill>
            <a:srgbClr val="0A3D57"/>
          </a:solidFill>
          <a:ln w="12700">
            <a:solidFill>
              <a:srgbClr val="0D4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SOP-001 作業程序書 v3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82128" y="2139696"/>
            <a:ext cx="59436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21396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2679192"/>
            <a:ext cx="2971800" cy="502920"/>
          </a:xfrm>
          <a:prstGeom prst="rect">
            <a:avLst/>
          </a:prstGeom>
          <a:solidFill>
            <a:srgbClr val="0D4A6B"/>
          </a:solidFill>
          <a:ln w="12700">
            <a:solidFill>
              <a:srgbClr val="0D4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WI-005 焊接指導書 v2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82128" y="2734056"/>
            <a:ext cx="59436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82128" y="27340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3273552"/>
            <a:ext cx="2971800" cy="502920"/>
          </a:xfrm>
          <a:prstGeom prst="rect">
            <a:avLst/>
          </a:prstGeom>
          <a:solidFill>
            <a:srgbClr val="0A3D57"/>
          </a:solidFill>
          <a:ln w="12700">
            <a:solidFill>
              <a:srgbClr val="0D4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QP-002 品質計劃 v1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82128" y="3328416"/>
            <a:ext cx="59436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3867912"/>
            <a:ext cx="2971800" cy="502920"/>
          </a:xfrm>
          <a:prstGeom prst="rect">
            <a:avLst/>
          </a:prstGeom>
          <a:solidFill>
            <a:srgbClr val="0D4A6B"/>
          </a:solidFill>
          <a:ln w="12700">
            <a:solidFill>
              <a:srgbClr val="0D4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FM-012 檢驗表單 v1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82128" y="3922776"/>
            <a:ext cx="59436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82128" y="39227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0" y="4480560"/>
            <a:ext cx="2971800" cy="347472"/>
          </a:xfrm>
          <a:prstGeom prst="rect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44805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新增文件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2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自建部署、輕量級、易於維護的現代化技術棧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客戶端 (Browser / Mobile)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RWD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20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1920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1371600"/>
            <a:ext cx="1920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8595360" cy="777240"/>
          </a:xfrm>
          <a:prstGeom prst="rect">
            <a:avLst/>
          </a:prstGeom>
          <a:solidFill>
            <a:srgbClr val="065A82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78608"/>
            <a:ext cx="1920240" cy="347472"/>
          </a:xfrm>
          <a:prstGeom prst="rect">
            <a:avLst/>
          </a:prstGeom>
          <a:solidFill>
            <a:srgbClr val="1A5C7A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96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(文件管理)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2578608"/>
            <a:ext cx="1920240" cy="347472"/>
          </a:xfrm>
          <a:prstGeom prst="rect">
            <a:avLst/>
          </a:prstGeom>
          <a:solidFill>
            <a:srgbClr val="1A5C7A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596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(即時通 + WS)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578608"/>
            <a:ext cx="1920240" cy="347472"/>
          </a:xfrm>
          <a:prstGeom prst="rect">
            <a:avLst/>
          </a:prstGeom>
          <a:solidFill>
            <a:srgbClr val="1A5C7A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596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578608"/>
            <a:ext cx="1920240" cy="347472"/>
          </a:xfrm>
          <a:prstGeom prst="rect">
            <a:avLst/>
          </a:prstGeom>
          <a:solidFill>
            <a:srgbClr val="1A5C7A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596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 (直連 PG)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108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4114800" cy="777240"/>
          </a:xfrm>
          <a:prstGeom prst="rect">
            <a:avLst/>
          </a:prstGeom>
          <a:solidFill>
            <a:srgbClr val="0D2B3D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67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(company_db)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429000"/>
            <a:ext cx="4206240" cy="777240"/>
          </a:xfrm>
          <a:prstGeom prst="rect">
            <a:avLst/>
          </a:prstGeom>
          <a:solidFill>
            <a:srgbClr val="0D2B3D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 / 部署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+ Cloudflare Tunnel (HTTPS)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051520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自建部署優勢：資料完全掌控  ·  無月費  ·  可客製化  ·  低延遲  ·  離線可用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商業價值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可量化的效益，幫助企業達到合規並提升效率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889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3317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簽核時間縮短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自動化流程取代人工傳遞，審核瓶頸即時可見，平均簽核時間由 3 天降至 1 天以內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51560"/>
            <a:ext cx="27889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280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3474720" y="2286000"/>
            <a:ext cx="23317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稽核通過率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完整的文件記錄與軌跡追蹤，確保 ISO 9001:2015 第 7.5 條合規，稽核準備時間大幅減少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05156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51560"/>
            <a:ext cx="2788920" cy="73152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280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5600" dirty="0"/>
          </a:p>
        </p:txBody>
      </p:sp>
      <p:sp>
        <p:nvSpPr>
          <p:cNvPr id="20" name="Shape 18"/>
          <p:cNvSpPr/>
          <p:nvPr/>
        </p:nvSpPr>
        <p:spPr>
          <a:xfrm>
            <a:off x="6400800" y="2286000"/>
            <a:ext cx="2331720" cy="365760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文件搜尋效率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模糊搜尋引擎讓員工在秒內找到所需文件，告別翻資料夾的時代，提升日常作業效率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2788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55371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零月費訂閱 — 自建部署一次性成本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4553712"/>
            <a:ext cx="2788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55371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跨裝置存取 — 桌機/手機/平板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4553712"/>
            <a:ext cx="2788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4553712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快速部署 — 數日內上線投入使用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2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1371600" cy="1371600"/>
          </a:xfrm>
          <a:prstGeom prst="ellipse">
            <a:avLst/>
          </a:prstGeom>
          <a:solidFill>
            <a:srgbClr val="0A9DC2">
              <a:alpha val="4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02920"/>
            <a:ext cx="6400800" cy="45720"/>
          </a:xfrm>
          <a:prstGeom prst="rect">
            <a:avLst/>
          </a:prstGeom>
          <a:solidFill>
            <a:srgbClr val="0A9DC2">
              <a:alpha val="70000"/>
            </a:srgbClr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858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開始您的數位文件管理之旅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文件管理系統 + 即時通 — 企業合規管理一站式解決方案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0" y="1920240"/>
            <a:ext cx="4572000" cy="640080"/>
          </a:xfrm>
          <a:prstGeom prst="rect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2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立即申請產品演示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920240" cy="347472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24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合規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724912"/>
            <a:ext cx="1920240" cy="347472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724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自建部署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724912"/>
            <a:ext cx="1920240" cy="347472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724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行動裝置支援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2724912"/>
            <a:ext cx="1920240" cy="347472"/>
          </a:xfrm>
          <a:prstGeom prst="rect">
            <a:avLst/>
          </a:prstGeom>
          <a:solidFill>
            <a:srgbClr val="0A3D57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724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即時通整合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065A82"/>
          </a:solidFill>
          <a:ln w="6350">
            <a:solidFill>
              <a:srgbClr val="0A9D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10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9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聯絡資訊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749040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712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系統技術支援：IT 部門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749040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712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部署環境：Windows Server (自建)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160520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123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資料庫：PostgreSQL (company_db)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128016" cy="128016"/>
          </a:xfrm>
          <a:prstGeom prst="ellipse">
            <a:avLst/>
          </a:prstGeom>
          <a:solidFill>
            <a:srgbClr val="0A9DC2"/>
          </a:solidFill>
          <a:ln w="12700">
            <a:solidFill>
              <a:srgbClr val="0A9D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123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外網存取：Cloudflare Tunnel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1520"/>
          </a:solidFill>
          <a:ln w="12700">
            <a:solidFill>
              <a:srgbClr val="0215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7731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文件管理系統 + 即時通  v2.0  |  2026  |  企業資訊部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文件管理系統 + 即時通 產品說明</dc:title>
  <dc:subject>PptxGenJS Presentation</dc:subject>
  <dc:creator>文件管理系統</dc:creator>
  <cp:lastModifiedBy>文件管理系統</cp:lastModifiedBy>
  <cp:revision>1</cp:revision>
  <dcterms:created xsi:type="dcterms:W3CDTF">2026-04-13T00:02:19Z</dcterms:created>
  <dcterms:modified xsi:type="dcterms:W3CDTF">2026-04-13T00:02:19Z</dcterms:modified>
</cp:coreProperties>
</file>